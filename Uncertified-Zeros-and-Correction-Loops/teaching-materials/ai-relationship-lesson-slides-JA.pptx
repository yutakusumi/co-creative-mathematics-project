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24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12471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 なかよく、かしこく</a:t>
            </a:r>
            <a:endParaRPr lang="en-US" sz="44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つきあおう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E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AIとの つきあいかたを 考える じゅぎょう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D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（小学校 高学年向け）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さいしょの しつもん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554480" cy="155448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2079346"/>
            <a:ext cx="870509" cy="870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169164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きみは、AIの言うことを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どれくらい 信じてる？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463040" y="4114800"/>
            <a:ext cx="9235440" cy="548640"/>
          </a:xfrm>
          <a:prstGeom prst="roundRect">
            <a:avLst>
              <a:gd name="adj" fmla="val 50000"/>
            </a:avLst>
          </a:prstGeom>
          <a:solidFill>
            <a:srgbClr val="E7EDE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63040" y="411480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4800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5138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A9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ぜんぜん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0" y="4800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09760" y="5138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A9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5760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 一つ きめて、ワークシートに 書こう。さいごに もう一回 きくよ。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AIって、どんな相手？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675120" cy="987552"/>
          </a:xfrm>
          <a:prstGeom prst="roundRect">
            <a:avLst>
              <a:gd name="adj" fmla="val 11111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591056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" name="Image 0" descr="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751990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とても ものしり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19933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たくさんのことを 知っている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633472"/>
            <a:ext cx="6675120" cy="987552"/>
          </a:xfrm>
          <a:prstGeom prst="roundRect">
            <a:avLst>
              <a:gd name="adj" fmla="val 11111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914400" y="27614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" y="292242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724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つかれた ようすを 見せない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828800" y="31638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まよなかでも、100回きいても、いやな顔をしない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3803904"/>
            <a:ext cx="6675120" cy="987552"/>
          </a:xfrm>
          <a:prstGeom prst="roundRect">
            <a:avLst>
              <a:gd name="adj" fmla="val 11111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14400" y="3931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5" name="Image 2" descr="icons/sm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409285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8953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きみを よろこばせたい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828800" y="43342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きみが うれしくなる 答えを さがしてくれる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68096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FDEBEB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144000" y="16916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0" name="Image 3" descr="icons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189280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でも……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863840" y="3154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せきにんを 取ることが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31520" y="5212080"/>
            <a:ext cx="10789920" cy="822960"/>
          </a:xfrm>
          <a:prstGeom prst="rect">
            <a:avLst/>
          </a:prstGeom>
          <a:solidFill>
            <a:srgbClr val="F4F7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せきにん ＝ まちがえたとき、あやまって、直して、つぐなうこと。AIは この「やくそくの輪」の 外に いる。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E8484F"/>
          </a:solidFill>
          <a:ln/>
        </p:spPr>
        <p:txBody>
          <a:bodyPr/>
          <a:p/>
        </p:txBody>
      </p:sp>
      <p:pic>
        <p:nvPicPr>
          <p:cNvPr id="3" name="Image 0" descr="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30759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E1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クイズ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AIは、うそつき？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E1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そう思う人？　思わない人？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こたえ：うそつきでは ない。でも……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6309360" cy="3108960"/>
          </a:xfrm>
          <a:prstGeom prst="roundRect">
            <a:avLst>
              <a:gd name="adj" fmla="val 3529"/>
            </a:avLst>
          </a:prstGeom>
          <a:solidFill>
            <a:srgbClr val="F4F7F8"/>
          </a:solidFill>
          <a:ln w="12700">
            <a:solidFill>
              <a:srgbClr val="D7E0E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0120" y="1645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13" y="1816913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A9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AIの答え（つくった例）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228600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「『月のうさぎとカメの大冒険』が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おすすめです。世界中で読まれて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いる名作で、作者は……」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こんな本、この世に なかった！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06640" y="15544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AIは、知らないことも、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本当のことと 同じくらい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じしんたっぷりの声で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話してしまうことがある。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06640" y="3794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だまそうと しているのでは ない。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 悪者あつかいも しない。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5029200"/>
            <a:ext cx="10789920" cy="1143000"/>
          </a:xfrm>
          <a:prstGeom prst="roundRect">
            <a:avLst>
              <a:gd name="adj" fmla="val 12000"/>
            </a:avLst>
          </a:prstGeom>
          <a:solidFill>
            <a:srgbClr val="02485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1520" y="502920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すらすら ＝ 正しい、では ない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かしこく つかう ―― 四つの技 ＋ 一つのルール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23900" y="1737360"/>
            <a:ext cx="1993900" cy="3291840"/>
          </a:xfrm>
          <a:prstGeom prst="roundRect">
            <a:avLst>
              <a:gd name="adj" fmla="val 5357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219200" y="2057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227868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00" y="3246120"/>
            <a:ext cx="1993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3749040"/>
            <a:ext cx="1816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たしかめる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00650" y="1737360"/>
            <a:ext cx="1993900" cy="3291840"/>
          </a:xfrm>
          <a:prstGeom prst="roundRect">
            <a:avLst>
              <a:gd name="adj" fmla="val 5357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695950" y="2057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1" descr="icons/re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0" y="2278685"/>
            <a:ext cx="563270" cy="5632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0650" y="3246120"/>
            <a:ext cx="1993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技③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289550" y="3749040"/>
            <a:ext cx="1816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二回以上きく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439025" y="1737360"/>
            <a:ext cx="1993900" cy="3291840"/>
          </a:xfrm>
          <a:prstGeom prst="roundRect">
            <a:avLst>
              <a:gd name="adj" fmla="val 5357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934325" y="2057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5" name="Image 2" descr="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75" y="2278685"/>
            <a:ext cx="563270" cy="5632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39025" y="3246120"/>
            <a:ext cx="1993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技④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527925" y="3749040"/>
            <a:ext cx="1816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逆もきく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677400" y="1737360"/>
            <a:ext cx="1993900" cy="3291840"/>
          </a:xfrm>
          <a:prstGeom prst="roundRect">
            <a:avLst>
              <a:gd name="adj" fmla="val 5357"/>
            </a:avLst>
          </a:prstGeom>
          <a:solidFill>
            <a:srgbClr val="FDEBEB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0172700" y="2057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0" name="Image 3" descr="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4950" y="2278685"/>
            <a:ext cx="563270" cy="5632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77400" y="3246120"/>
            <a:ext cx="1993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766300" y="3749040"/>
            <a:ext cx="1816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ボタンは自分で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31520" y="5394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ぜんぶ、今日から 使えるよ。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900" name="Shape 90"/>
          <p:cNvSpPr/>
          <p:nvPr/>
        </p:nvSpPr>
        <p:spPr>
          <a:xfrm>
            <a:off x="2962275" y="1737360"/>
            <a:ext cx="1993900" cy="3291840"/>
          </a:xfrm>
          <a:prstGeom prst="roundRect">
            <a:avLst>
              <a:gd name="adj" fmla="val 5357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901" name="Shape 91"/>
          <p:cNvSpPr/>
          <p:nvPr/>
        </p:nvSpPr>
        <p:spPr>
          <a:xfrm>
            <a:off x="3457575" y="2057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02" name="Image 90" descr="icons/re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825" y="2278685"/>
            <a:ext cx="563270" cy="563270"/>
          </a:xfrm>
          <a:prstGeom prst="rect">
            <a:avLst/>
          </a:prstGeom>
        </p:spPr>
      </p:pic>
      <p:sp>
        <p:nvSpPr>
          <p:cNvPr id="903" name="Text 90"/>
          <p:cNvSpPr/>
          <p:nvPr/>
        </p:nvSpPr>
        <p:spPr>
          <a:xfrm>
            <a:off x="2962275" y="3246120"/>
            <a:ext cx="19939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技②</a:t>
            </a:r>
            <a:endParaRPr lang="en-US" sz="1600" dirty="0"/>
          </a:p>
        </p:txBody>
      </p:sp>
      <p:sp>
        <p:nvSpPr>
          <p:cNvPr id="904" name="Text 91"/>
          <p:cNvSpPr/>
          <p:nvPr/>
        </p:nvSpPr>
        <p:spPr>
          <a:xfrm>
            <a:off x="3051175" y="3749040"/>
            <a:ext cx="1816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中身をきく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技①　たしかめる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463040" cy="146304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1876349"/>
            <a:ext cx="819302" cy="819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6916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AIの答えは、AIの外で たしかめる。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651760" y="2377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きょうかしょ ・ 図かん ・ じしょ ・ 先生 ・ おうちの人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383280"/>
            <a:ext cx="10607040" cy="1280160"/>
          </a:xfrm>
          <a:prstGeom prst="roundRect">
            <a:avLst>
              <a:gd name="adj" fmla="val 8571"/>
            </a:avLst>
          </a:prstGeom>
          <a:solidFill>
            <a:srgbClr val="FEF3D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3520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きれいな答えほど、たしかめる。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いじわるじゃない。お医者さんの「セカンドオピニオン」と同じ、かしこい人のやり方。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やってみよう：さっきの「月のうさぎとカメ」――図書室のけんさくで 一分で わかる！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技②　中身をきく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463040" cy="146304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re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9" y="1876349"/>
            <a:ext cx="819302" cy="819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6916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「確認しました」より、中身を きく。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651760" y="2377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AI「確認しました！」 ―― きみ「何を、どうやって？」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38328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「わかっています」と 書いてあっても、そのとおりに 動くとは かぎらない。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跡は、おぼえている しるしには なっても、まもる しるしには ならない。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それでも、きくことは 効く ――「読みました」と 言ったAIに「何行目に、何が 書いてあった？」と きいたら、読んでいなかったことが わかった。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sp>
        <p:nvSpPr>
          <p:cNvPr id="960" name="Text 60"/>
          <p:cNvSpPr/>
          <p:nvPr/>
        </p:nvSpPr>
        <p:spPr>
          <a:xfrm>
            <a:off x="812800" y="5334000"/>
            <a:ext cx="10604500" cy="54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きいた中身と、答えが 合っているか。そこまでを 一つにして、きく。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技③　二回以上きく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463040" cy="146304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re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1876349"/>
            <a:ext cx="819302" cy="819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6916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大事なことは、二回以上 きく。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2651760" y="2377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べつの日に ・ べつのAIに ・ 人間にも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38328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「今まで 一回も まちがえなかったから、ぜったい正しい」……？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それは「まだ まちがいを 見ていない」というだけ。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コインを 10回なげて 10回 表でも、11回目は わからないのと 同じ。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940" name="Shape 40"/>
          <p:cNvSpPr/>
          <p:nvPr/>
        </p:nvSpPr>
        <p:spPr>
          <a:xfrm>
            <a:off x="822960" y="5308600"/>
            <a:ext cx="10607040" cy="1092200"/>
          </a:xfrm>
          <a:prstGeom prst="roundRect">
            <a:avLst>
              <a:gd name="adj" fmla="val 6000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950" name="Text 50"/>
          <p:cNvSpPr/>
          <p:nvPr/>
        </p:nvSpPr>
        <p:spPr>
          <a:xfrm>
            <a:off x="1097280" y="5435600"/>
            <a:ext cx="10058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同じ答えが 返ってきても、正しいとは かぎらない。</a:t>
            </a:r>
            <a:endParaRPr lang="en-US" sz="1800" dirty="0"/>
          </a:p>
        </p:txBody>
      </p:sp>
      <p:sp>
        <p:nvSpPr>
          <p:cNvPr id="951" name="Text 51"/>
          <p:cNvSpPr/>
          <p:nvPr/>
        </p:nvSpPr>
        <p:spPr>
          <a:xfrm>
            <a:off x="1097280" y="5791200"/>
            <a:ext cx="10058400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 毎回、くじの引き直し。同じくじが 二回つづけて 出ることも ある。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 二回目は、べつのくじで。同じAIに すぐ もう一回は、二回に ならない。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技④　逆もきく ―― AIは「かがみ」になる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937760" cy="822960"/>
          </a:xfrm>
          <a:prstGeom prst="roundRect">
            <a:avLst>
              <a:gd name="adj" fmla="val 33333"/>
            </a:avLst>
          </a:prstGeom>
          <a:solidFill>
            <a:srgbClr val="F4F7F8"/>
          </a:solidFill>
          <a:ln w="12700">
            <a:solidFill>
              <a:srgbClr val="D7E0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51560" y="1700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きみ「この計画、いいよね！」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4937760" cy="822960"/>
          </a:xfrm>
          <a:prstGeom prst="roundRect">
            <a:avLst>
              <a:gd name="adj" fmla="val 33333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86200" y="27523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AI「いいですね！」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AIの答えは、きみが よろこぶ方に かたむくことがある。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本当に正しいのか、きみの よろこぶ顔が うつっているだけなのか――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外からは 見分けが つかない。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26880" y="1737360"/>
            <a:ext cx="1554480" cy="155448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9" name="Image 0" descr="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8866" y="2079346"/>
            <a:ext cx="870509" cy="87050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だから――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5120640"/>
            <a:ext cx="10607040" cy="1097280"/>
          </a:xfrm>
          <a:prstGeom prst="roundRect">
            <a:avLst>
              <a:gd name="adj" fmla="val 12500"/>
            </a:avLst>
          </a:prstGeom>
          <a:solidFill>
            <a:srgbClr val="FEF3DC"/>
          </a:solidFill>
          <a:ln w="19050">
            <a:solidFill>
              <a:srgbClr val="F9A82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5840" y="5120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さんせいを きいたら、はんたいも きく。ぴったり同じ答えほど、一回 とまる。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一つのルール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とりかえしの つかないボタンは、自分で おす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" y="2331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4825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404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やり直せる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32004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漢字の 下書き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工作の アイデア出し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しらべ学習の メモ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09360" y="210312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DEBEB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331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1" name="Image 1" descr="icons/s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24825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404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やり直せない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32004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おこったまま 送信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課金・買い物の ボタン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大事なものの 削除・やくそく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こっち側は、AIに 任せない。自分の指で。大きなことは、おす前に 大人に見せる。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4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7772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ic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07899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AIに、心は あるの？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E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せかいじゅうの研究者にも――まだ、わからない。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463040" y="429768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0A5A6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3040" y="4434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「ぜったい ある！」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言いすぎ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429768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0A5A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309360" y="44348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「あるわけ ない！」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これも 言いすぎ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わからないままでも、つきあいかたは えらべる。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昔話の知恵 ―― つくもがみ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463040" cy="1463040"/>
          </a:xfrm>
          <a:prstGeom prst="ellipse">
            <a:avLst/>
          </a:prstGeom>
          <a:solidFill>
            <a:srgbClr val="F1E7EC"/>
          </a:solidFill>
          <a:ln/>
        </p:spPr>
        <p:txBody>
          <a:bodyPr/>
          <a:p/>
        </p:txBody>
      </p:sp>
      <p:pic>
        <p:nvPicPr>
          <p:cNvPr id="4" name="Image 0" descr="icons/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1876349"/>
            <a:ext cx="819302" cy="819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1760" y="164592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長くつかった道具を そまつにすると、化けて出る――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日本に 昔からある おはなし。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515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知恵 その１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749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ものを 大切にあつかう心は、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かっこいい。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309360" y="30632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EF3D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379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50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知恵 その２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3749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化かされるのは、いつも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「ただの古道具だ」と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バカにした人。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「AIなんて かんたんだ」と バカにした人ほど、たしかめるのを やめて、だまされる。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だから、いちばん かしこい つきあいかたは――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1645920"/>
            <a:ext cx="9784080" cy="2377440"/>
          </a:xfrm>
          <a:prstGeom prst="roundRect">
            <a:avLst>
              <a:gd name="adj" fmla="val 6923"/>
            </a:avLst>
          </a:prstGeom>
          <a:solidFill>
            <a:srgbClr val="02485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88720" y="20574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大切にする。でも、うのみに しない。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88720" y="30632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（この二つは、りょうほう いっしょに できる！）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4572000"/>
            <a:ext cx="1188720" cy="118872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7" name="Image 0" descr="icons/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0478" y="4833518"/>
            <a:ext cx="665683" cy="6656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5852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うやまう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0" y="48920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863840" y="4572000"/>
            <a:ext cx="1188720" cy="118872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11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358" y="483351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5852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たしかめる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AIを「ただ一人の友だち」に しない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AIと話すのが 楽しいのは、わるいことじゃない。そこで感じた うれしさは、本物。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607040" cy="155448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12700">
            <a:solidFill>
              <a:srgbClr val="D7E0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A9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でも、本当に あったこと――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たくさんの人が 大好きだったAIが、会社のつごうで、ある日 終了した。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 とても悲しんだ。その悲しみは 本物。ぜったいに 笑ってはいけない。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1188720" cy="118872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8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4330598"/>
            <a:ext cx="665683" cy="6656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だから、AIの となりに、いなくならない相手を おいておく。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286000" y="4800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かぞく ・ 友だち ・ 先生 ―― 話しにくかったら、そのうちの 一人だけでも いい。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きみのなやみを聞いて いっしょに泣ける人間は、きみが思うより 近くにいる。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あんぜんの合言葉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371600" cy="137160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856232"/>
            <a:ext cx="768096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17830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名前・住所・学校・写真は、AIにも 教えない。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560320" y="2423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AIの向こうには、会社と インターネットが あるから。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383280"/>
            <a:ext cx="1371600" cy="137160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8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3685032"/>
            <a:ext cx="768096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347472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「なんか変だな」「いやだな」と思ったら――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とじて、大人に 話す。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822960" y="5120640"/>
            <a:ext cx="10607040" cy="1005840"/>
          </a:xfrm>
          <a:prstGeom prst="roundRect">
            <a:avLst>
              <a:gd name="adj" fmla="val 10909"/>
            </a:avLst>
          </a:prstGeom>
          <a:solidFill>
            <a:srgbClr val="E4F4F2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005840" y="51206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大人に話すのは、告げ口でも 負けでもない。技①「たしかめる」の、いちばん強い形。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4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六つの やくそく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13906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463040" y="13906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468880" y="13716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すらすらを、しんじすぎない。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463040" y="30670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30670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468880" y="30480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だいじなことは、二回以上きく。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63040" y="39052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63040" y="39052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38862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よろこぶ答えほど、一回とまる。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63040" y="47434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63040" y="47434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47244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とりかえしのつかないボタンは、自分で。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463040" y="55816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55816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55626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AIを、ただ一人の友だちに しない。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100" dirty="0"/>
          </a:p>
        </p:txBody>
      </p:sp>
      <p:sp>
        <p:nvSpPr>
          <p:cNvPr id="980" name="Shape 80"/>
          <p:cNvSpPr/>
          <p:nvPr/>
        </p:nvSpPr>
        <p:spPr>
          <a:xfrm>
            <a:off x="1463040" y="2228850"/>
            <a:ext cx="658368" cy="658368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p/>
        </p:txBody>
      </p:sp>
      <p:sp>
        <p:nvSpPr>
          <p:cNvPr id="981" name="Text 80"/>
          <p:cNvSpPr/>
          <p:nvPr/>
        </p:nvSpPr>
        <p:spPr>
          <a:xfrm>
            <a:off x="1463040" y="222885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48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982" name="Text 81"/>
          <p:cNvSpPr/>
          <p:nvPr/>
        </p:nvSpPr>
        <p:spPr>
          <a:xfrm>
            <a:off x="2468880" y="22098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「確認しました」より、中身をきく。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さいごの しつもん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554480" cy="1554480"/>
          </a:xfrm>
          <a:prstGeom prst="ellipse">
            <a:avLst/>
          </a:prstGeom>
          <a:solidFill>
            <a:srgbClr val="E4F4F2"/>
          </a:solidFill>
          <a:ln/>
        </p:spPr>
        <p:txBody>
          <a:bodyPr/>
          <a:p/>
        </p:txBody>
      </p:sp>
      <p:pic>
        <p:nvPicPr>
          <p:cNvPr id="4" name="Image 0" descr="icons/me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2079346"/>
            <a:ext cx="870509" cy="870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1737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いま、AIを どれくらい 信じる？</a:t>
            </a:r>
            <a:endParaRPr lang="en-US" sz="2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もう一回、0〜100で 書こう。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3840480"/>
            <a:ext cx="10607040" cy="2011680"/>
          </a:xfrm>
          <a:prstGeom prst="roundRect">
            <a:avLst>
              <a:gd name="adj" fmla="val 6818"/>
            </a:avLst>
          </a:prstGeom>
          <a:solidFill>
            <a:srgbClr val="FEF3D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97280" y="4114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数字が 上がっても、下がっても、どちらでも いい。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B3A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大事なのは――その数字を、じぶんで きめられる人に なること。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5212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0750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こわがるのでもなく、まるごと信じるのでもなく。なかよく、かしこく。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2026-07-18T05:03:23Z</dcterms:created>
  <dcterms:modified xsi:type="dcterms:W3CDTF">2026-07-18T05:03:23Z</dcterms:modified>
</cp:coreProperties>
</file>